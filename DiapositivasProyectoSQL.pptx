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3"/>
    <p:sldId id="264" r:id="rId4"/>
    <p:sldId id="268" r:id="rId5"/>
    <p:sldId id="265" r:id="rId6"/>
    <p:sldId id="266" r:id="rId7"/>
    <p:sldId id="267" r:id="rId8"/>
  </p:sldIdLst>
  <p:sldSz cx="18288000" cy="10287000"/>
  <p:notesSz cx="6858000" cy="9144000"/>
  <p:embeddedFontLst>
    <p:embeddedFont>
      <p:font typeface="Clear Sans Bold" panose="020B0604020202020204" charset="0"/>
      <p:bold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2F6"/>
        </a:solid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D74D8379-377F-397A-AA06-15FE7B56D3B4}"/>
              </a:ext>
            </a:extLst>
          </p:cNvPr>
          <p:cNvPicPr>
            <a:picLocks noChangeAspect="1"/>
          </p:cNvPicPr>
          <p:nvPr/>
        </p:nvPicPr>
        <p:blipFill>
          <a:blip r:embed="rId2"/>
          <a:stretch>
            <a:fillRect/>
          </a:stretch>
        </p:blipFill>
        <p:spPr>
          <a:xfrm>
            <a:off x="0" y="8452909"/>
            <a:ext cx="18288000" cy="1839839"/>
          </a:xfrm>
          <a:prstGeom prst="rect">
            <a:avLst/>
          </a:prstGeom>
        </p:spPr>
      </p:pic>
      <p:sp>
        <p:nvSpPr>
          <p:cNvPr id="4" name="TextBox 4"/>
          <p:cNvSpPr txBox="1"/>
          <p:nvPr/>
        </p:nvSpPr>
        <p:spPr>
          <a:xfrm>
            <a:off x="841122" y="801461"/>
            <a:ext cx="8990951" cy="4556953"/>
          </a:xfrm>
          <a:prstGeom prst="rect">
            <a:avLst/>
          </a:prstGeom>
        </p:spPr>
        <p:txBody>
          <a:bodyPr lIns="0" tIns="0" rIns="0" bIns="0" rtlCol="0" anchor="t">
            <a:spAutoFit/>
          </a:bodyPr>
          <a:lstStyle/>
          <a:p>
            <a:pPr algn="l">
              <a:lnSpc>
                <a:spcPts val="11960"/>
              </a:lnSpc>
            </a:pPr>
            <a:r>
              <a:rPr lang="es-ES" sz="10400" b="1" dirty="0">
                <a:solidFill>
                  <a:srgbClr val="302B70"/>
                </a:solidFill>
                <a:latin typeface="HK Grotesk Bold" panose="00000800000000000000"/>
              </a:rPr>
              <a:t>Proyecto</a:t>
            </a:r>
            <a:r>
              <a:rPr lang="es-ES" sz="9600" dirty="0"/>
              <a:t> </a:t>
            </a:r>
            <a:r>
              <a:rPr lang="es-ES" sz="10400" b="1" dirty="0">
                <a:solidFill>
                  <a:srgbClr val="302B70"/>
                </a:solidFill>
                <a:latin typeface="HK Grotesk Bold" panose="00000800000000000000"/>
              </a:rPr>
              <a:t>SQL</a:t>
            </a:r>
            <a:r>
              <a:rPr lang="es-ES" sz="9600" dirty="0"/>
              <a:t> – </a:t>
            </a:r>
            <a:r>
              <a:rPr lang="es-ES" sz="9600" b="1" dirty="0">
                <a:latin typeface="HK Grotesk Bold" panose="00000800000000000000"/>
              </a:rPr>
              <a:t>Base de datos </a:t>
            </a:r>
            <a:r>
              <a:rPr lang="es-ES" sz="9600" b="1" dirty="0" err="1">
                <a:latin typeface="HK Grotesk Bold" panose="00000800000000000000"/>
              </a:rPr>
              <a:t>Northwind</a:t>
            </a:r>
            <a:endParaRPr lang="en-US" sz="10400" b="1" dirty="0">
              <a:solidFill>
                <a:srgbClr val="000000"/>
              </a:solidFill>
              <a:latin typeface="HK Grotesk Bold" panose="00000800000000000000"/>
              <a:ea typeface="HK Grotesk Bold" panose="00000800000000000000"/>
              <a:cs typeface="HK Grotesk Bold" panose="00000800000000000000"/>
              <a:sym typeface="HK Grotesk Bold" panose="00000800000000000000"/>
            </a:endParaRPr>
          </a:p>
        </p:txBody>
      </p:sp>
      <p:sp>
        <p:nvSpPr>
          <p:cNvPr id="6" name="Freeform 6"/>
          <p:cNvSpPr/>
          <p:nvPr/>
        </p:nvSpPr>
        <p:spPr>
          <a:xfrm>
            <a:off x="14271742" y="4387501"/>
            <a:ext cx="2987558" cy="4459042"/>
          </a:xfrm>
          <a:custGeom>
            <a:avLst/>
            <a:gdLst/>
            <a:ahLst/>
            <a:cxnLst/>
            <a:rect l="l" t="t" r="r" b="b"/>
            <a:pathLst>
              <a:path w="2987558" h="4459042">
                <a:moveTo>
                  <a:pt x="0" y="0"/>
                </a:moveTo>
                <a:lnTo>
                  <a:pt x="2987558" y="0"/>
                </a:lnTo>
                <a:lnTo>
                  <a:pt x="2987558" y="4459041"/>
                </a:lnTo>
                <a:lnTo>
                  <a:pt x="0" y="44590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H="1">
            <a:off x="10166457" y="1028700"/>
            <a:ext cx="6783040" cy="9553578"/>
          </a:xfrm>
          <a:custGeom>
            <a:avLst/>
            <a:gdLst/>
            <a:ahLst/>
            <a:cxnLst/>
            <a:rect l="l" t="t" r="r" b="b"/>
            <a:pathLst>
              <a:path w="6783040" h="9553578">
                <a:moveTo>
                  <a:pt x="6783040" y="0"/>
                </a:moveTo>
                <a:lnTo>
                  <a:pt x="0" y="0"/>
                </a:lnTo>
                <a:lnTo>
                  <a:pt x="0" y="9553578"/>
                </a:lnTo>
                <a:lnTo>
                  <a:pt x="6783040" y="9553578"/>
                </a:lnTo>
                <a:lnTo>
                  <a:pt x="678304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10187860" y="1637939"/>
            <a:ext cx="2154826" cy="2154826"/>
          </a:xfrm>
          <a:custGeom>
            <a:avLst/>
            <a:gdLst/>
            <a:ahLst/>
            <a:cxnLst/>
            <a:rect l="l" t="t" r="r" b="b"/>
            <a:pathLst>
              <a:path w="2154826" h="2154826">
                <a:moveTo>
                  <a:pt x="0" y="0"/>
                </a:moveTo>
                <a:lnTo>
                  <a:pt x="2154826" y="0"/>
                </a:lnTo>
                <a:lnTo>
                  <a:pt x="2154826" y="2154826"/>
                </a:lnTo>
                <a:lnTo>
                  <a:pt x="0" y="215482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1028701" y="5584655"/>
            <a:ext cx="2247900" cy="758285"/>
          </a:xfrm>
          <a:prstGeom prst="rect">
            <a:avLst/>
          </a:prstGeom>
        </p:spPr>
        <p:txBody>
          <a:bodyPr wrap="square" lIns="0" tIns="0" rIns="0" bIns="0" numCol="1" rtlCol="0" anchor="t">
            <a:spAutoFit/>
          </a:bodyPr>
          <a:lstStyle/>
          <a:p>
            <a:pPr>
              <a:lnSpc>
                <a:spcPts val="6300"/>
              </a:lnSpc>
              <a:spcBef>
                <a:spcPct val="0"/>
              </a:spcBef>
            </a:pPr>
            <a:r>
              <a:rPr lang="es-EC" sz="4500" b="1" dirty="0">
                <a:solidFill>
                  <a:srgbClr val="000000"/>
                </a:solidFill>
                <a:ea typeface="Clear Sans Bold" panose="020B0803030202020304"/>
                <a:cs typeface="Clear Sans Bold" panose="020B0803030202020304"/>
                <a:sym typeface="Clear Sans Bold" panose="020B0803030202020304"/>
              </a:rPr>
              <a:t>G</a:t>
            </a:r>
            <a:r>
              <a:rPr lang="en-US" sz="4500" b="1" dirty="0" err="1">
                <a:solidFill>
                  <a:srgbClr val="000000"/>
                </a:solidFill>
                <a:ea typeface="Clear Sans Bold" panose="020B0803030202020304"/>
                <a:cs typeface="Clear Sans Bold" panose="020B0803030202020304"/>
                <a:sym typeface="Clear Sans Bold" panose="020B0803030202020304"/>
              </a:rPr>
              <a:t>rupo</a:t>
            </a:r>
            <a:r>
              <a:rPr lang="en-US" sz="4500" b="1" dirty="0">
                <a:solidFill>
                  <a:srgbClr val="000000"/>
                </a:solidFill>
                <a:ea typeface="Clear Sans Bold" panose="020B0803030202020304"/>
                <a:cs typeface="Clear Sans Bold" panose="020B0803030202020304"/>
                <a:sym typeface="Clear Sans Bold" panose="020B0803030202020304"/>
              </a:rPr>
              <a:t> 1:</a:t>
            </a:r>
            <a:endParaRPr lang="en-US" sz="3600" dirty="0">
              <a:solidFill>
                <a:srgbClr val="000000"/>
              </a:solidFill>
              <a:ea typeface="Clear Sans Bold" panose="020B0803030202020304"/>
              <a:cs typeface="Clear Sans Bold" panose="020B0803030202020304"/>
              <a:sym typeface="Clear Sans Bold" panose="020B0803030202020304"/>
            </a:endParaRPr>
          </a:p>
        </p:txBody>
      </p:sp>
      <p:sp>
        <p:nvSpPr>
          <p:cNvPr id="10" name="CuadroTexto 9">
            <a:extLst>
              <a:ext uri="{FF2B5EF4-FFF2-40B4-BE49-F238E27FC236}">
                <a16:creationId xmlns:a16="http://schemas.microsoft.com/office/drawing/2014/main" id="{E5200D18-A904-3865-68CC-59B9D4ACA15F}"/>
              </a:ext>
            </a:extLst>
          </p:cNvPr>
          <p:cNvSpPr txBox="1"/>
          <p:nvPr/>
        </p:nvSpPr>
        <p:spPr>
          <a:xfrm>
            <a:off x="870619" y="6494910"/>
            <a:ext cx="4340478" cy="1668470"/>
          </a:xfrm>
          <a:prstGeom prst="rect">
            <a:avLst/>
          </a:prstGeom>
          <a:noFill/>
        </p:spPr>
        <p:txBody>
          <a:bodyPr wrap="square" numCol="1">
            <a:spAutoFit/>
          </a:bodyPr>
          <a:lstStyle/>
          <a:p>
            <a:pPr>
              <a:lnSpc>
                <a:spcPct val="150000"/>
              </a:lnSpc>
              <a:spcBef>
                <a:spcPct val="0"/>
              </a:spcBef>
            </a:pPr>
            <a:r>
              <a:rPr lang="en-US" sz="3600" dirty="0" err="1">
                <a:solidFill>
                  <a:srgbClr val="000000"/>
                </a:solidFill>
                <a:ea typeface="Clear Sans Bold" panose="020B0803030202020304"/>
                <a:cs typeface="Clear Sans Bold" panose="020B0803030202020304"/>
                <a:sym typeface="Clear Sans Bold" panose="020B0803030202020304"/>
              </a:rPr>
              <a:t>Natassja</a:t>
            </a:r>
            <a:r>
              <a:rPr lang="en-US" sz="3600" dirty="0">
                <a:solidFill>
                  <a:srgbClr val="000000"/>
                </a:solidFill>
                <a:ea typeface="Clear Sans Bold" panose="020B0803030202020304"/>
                <a:cs typeface="Clear Sans Bold" panose="020B0803030202020304"/>
                <a:sym typeface="Clear Sans Bold" panose="020B0803030202020304"/>
              </a:rPr>
              <a:t> </a:t>
            </a:r>
            <a:r>
              <a:rPr lang="en-US" sz="3600" dirty="0" err="1">
                <a:solidFill>
                  <a:srgbClr val="000000"/>
                </a:solidFill>
                <a:ea typeface="Clear Sans Bold" panose="020B0803030202020304"/>
                <a:cs typeface="Clear Sans Bold" panose="020B0803030202020304"/>
                <a:sym typeface="Clear Sans Bold" panose="020B0803030202020304"/>
              </a:rPr>
              <a:t>Campoverde</a:t>
            </a:r>
            <a:endParaRPr lang="en-US" sz="3600" dirty="0">
              <a:solidFill>
                <a:srgbClr val="000000"/>
              </a:solidFill>
              <a:ea typeface="Clear Sans Bold" panose="020B0803030202020304"/>
              <a:cs typeface="Clear Sans Bold" panose="020B0803030202020304"/>
              <a:sym typeface="Clear Sans Bold" panose="020B0803030202020304"/>
            </a:endParaRPr>
          </a:p>
          <a:p>
            <a:pPr>
              <a:lnSpc>
                <a:spcPct val="150000"/>
              </a:lnSpc>
              <a:spcBef>
                <a:spcPct val="0"/>
              </a:spcBef>
            </a:pPr>
            <a:r>
              <a:rPr lang="en-US" sz="3600" dirty="0">
                <a:solidFill>
                  <a:srgbClr val="000000"/>
                </a:solidFill>
                <a:ea typeface="Clear Sans Bold" panose="020B0803030202020304"/>
                <a:cs typeface="Clear Sans Bold" panose="020B0803030202020304"/>
                <a:sym typeface="Clear Sans Bold" panose="020B0803030202020304"/>
              </a:rPr>
              <a:t>Victor Jaime</a:t>
            </a:r>
          </a:p>
        </p:txBody>
      </p:sp>
      <p:sp>
        <p:nvSpPr>
          <p:cNvPr id="13" name="CuadroTexto 12">
            <a:extLst>
              <a:ext uri="{FF2B5EF4-FFF2-40B4-BE49-F238E27FC236}">
                <a16:creationId xmlns:a16="http://schemas.microsoft.com/office/drawing/2014/main" id="{AAFFD036-9A50-1679-F1F1-06A6340A14E2}"/>
              </a:ext>
            </a:extLst>
          </p:cNvPr>
          <p:cNvSpPr txBox="1"/>
          <p:nvPr/>
        </p:nvSpPr>
        <p:spPr>
          <a:xfrm>
            <a:off x="5813933" y="6494909"/>
            <a:ext cx="2809886" cy="1668470"/>
          </a:xfrm>
          <a:prstGeom prst="rect">
            <a:avLst/>
          </a:prstGeom>
          <a:noFill/>
        </p:spPr>
        <p:txBody>
          <a:bodyPr wrap="square">
            <a:spAutoFit/>
          </a:bodyPr>
          <a:lstStyle/>
          <a:p>
            <a:pPr>
              <a:lnSpc>
                <a:spcPct val="150000"/>
              </a:lnSpc>
              <a:spcBef>
                <a:spcPct val="0"/>
              </a:spcBef>
            </a:pPr>
            <a:r>
              <a:rPr lang="en-US" sz="3600" dirty="0">
                <a:solidFill>
                  <a:srgbClr val="000000"/>
                </a:solidFill>
                <a:ea typeface="Clear Sans Bold" panose="020B0803030202020304"/>
                <a:cs typeface="Clear Sans Bold" panose="020B0803030202020304"/>
                <a:sym typeface="Clear Sans Bold" panose="020B0803030202020304"/>
              </a:rPr>
              <a:t>Bryan Perez</a:t>
            </a:r>
          </a:p>
          <a:p>
            <a:pPr>
              <a:lnSpc>
                <a:spcPct val="150000"/>
              </a:lnSpc>
              <a:spcBef>
                <a:spcPct val="0"/>
              </a:spcBef>
            </a:pPr>
            <a:r>
              <a:rPr lang="en-US" sz="3600" dirty="0">
                <a:solidFill>
                  <a:srgbClr val="000000"/>
                </a:solidFill>
                <a:ea typeface="Clear Sans Bold" panose="020B0803030202020304"/>
                <a:cs typeface="Clear Sans Bold" panose="020B0803030202020304"/>
                <a:sym typeface="Clear Sans Bold" panose="020B0803030202020304"/>
              </a:rPr>
              <a:t>Dick Torres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2">
            <a:extLst>
              <a:ext uri="{FF2B5EF4-FFF2-40B4-BE49-F238E27FC236}">
                <a16:creationId xmlns:a16="http://schemas.microsoft.com/office/drawing/2014/main" id="{95261F08-3D88-7B58-F94B-BF9B6D0515DD}"/>
              </a:ext>
            </a:extLst>
          </p:cNvPr>
          <p:cNvSpPr/>
          <p:nvPr/>
        </p:nvSpPr>
        <p:spPr>
          <a:xfrm>
            <a:off x="0" y="0"/>
            <a:ext cx="18288000" cy="10287000"/>
          </a:xfrm>
          <a:prstGeom prst="rect">
            <a:avLst/>
          </a:prstGeom>
          <a:solidFill>
            <a:srgbClr val="F0F2F6"/>
          </a:solidFill>
        </p:spPr>
      </p:sp>
      <p:sp>
        <p:nvSpPr>
          <p:cNvPr id="2" name="Freeform 2"/>
          <p:cNvSpPr/>
          <p:nvPr/>
        </p:nvSpPr>
        <p:spPr>
          <a:xfrm>
            <a:off x="-20939" y="6344700"/>
            <a:ext cx="1498390" cy="2827150"/>
          </a:xfrm>
          <a:custGeom>
            <a:avLst/>
            <a:gdLst/>
            <a:ahLst/>
            <a:cxnLst/>
            <a:rect l="l" t="t" r="r" b="b"/>
            <a:pathLst>
              <a:path w="1498390" h="2827150">
                <a:moveTo>
                  <a:pt x="0" y="0"/>
                </a:moveTo>
                <a:lnTo>
                  <a:pt x="1498390" y="0"/>
                </a:lnTo>
                <a:lnTo>
                  <a:pt x="1498390" y="2827150"/>
                </a:lnTo>
                <a:lnTo>
                  <a:pt x="0" y="28271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pic>
        <p:nvPicPr>
          <p:cNvPr id="12" name="Imagen 11">
            <a:extLst>
              <a:ext uri="{FF2B5EF4-FFF2-40B4-BE49-F238E27FC236}">
                <a16:creationId xmlns:a16="http://schemas.microsoft.com/office/drawing/2014/main" id="{5FFE3A98-AF6C-155F-9C1F-2400B4A98F44}"/>
              </a:ext>
            </a:extLst>
          </p:cNvPr>
          <p:cNvPicPr>
            <a:picLocks noChangeAspect="1"/>
          </p:cNvPicPr>
          <p:nvPr/>
        </p:nvPicPr>
        <p:blipFill>
          <a:blip r:embed="rId4"/>
          <a:stretch>
            <a:fillRect/>
          </a:stretch>
        </p:blipFill>
        <p:spPr>
          <a:xfrm>
            <a:off x="0" y="8452909"/>
            <a:ext cx="18288000" cy="1839839"/>
          </a:xfrm>
          <a:prstGeom prst="rect">
            <a:avLst/>
          </a:prstGeom>
        </p:spPr>
      </p:pic>
      <p:sp>
        <p:nvSpPr>
          <p:cNvPr id="4" name="TextBox 7">
            <a:extLst>
              <a:ext uri="{FF2B5EF4-FFF2-40B4-BE49-F238E27FC236}">
                <a16:creationId xmlns:a16="http://schemas.microsoft.com/office/drawing/2014/main" id="{E4AD9968-5E51-62FB-3B0A-61C2B92D85ED}"/>
              </a:ext>
            </a:extLst>
          </p:cNvPr>
          <p:cNvSpPr txBox="1"/>
          <p:nvPr/>
        </p:nvSpPr>
        <p:spPr>
          <a:xfrm>
            <a:off x="1066800" y="457568"/>
            <a:ext cx="5486400" cy="1231106"/>
          </a:xfrm>
          <a:prstGeom prst="rect">
            <a:avLst/>
          </a:prstGeom>
        </p:spPr>
        <p:txBody>
          <a:bodyPr wrap="square" lIns="0" tIns="0" rIns="0" bIns="0" rtlCol="0" anchor="t">
            <a:spAutoFit/>
          </a:bodyPr>
          <a:lstStyle/>
          <a:p>
            <a:pPr algn="l">
              <a:lnSpc>
                <a:spcPts val="9600"/>
              </a:lnSpc>
            </a:pPr>
            <a:r>
              <a:rPr lang="en-US" sz="8000" b="1" dirty="0" err="1">
                <a:solidFill>
                  <a:srgbClr val="000000"/>
                </a:solidFill>
                <a:latin typeface="HK Grotesk Bold" panose="00000800000000000000"/>
                <a:ea typeface="HK Grotesk Bold" panose="00000800000000000000"/>
                <a:cs typeface="HK Grotesk Bold" panose="00000800000000000000"/>
                <a:sym typeface="HK Grotesk Bold" panose="00000800000000000000"/>
              </a:rPr>
              <a:t>Introducción</a:t>
            </a:r>
            <a:endParaRPr lang="en-US" sz="8000" b="1" dirty="0">
              <a:solidFill>
                <a:srgbClr val="000000"/>
              </a:solidFill>
              <a:latin typeface="HK Grotesk Bold" panose="00000800000000000000"/>
              <a:ea typeface="HK Grotesk Bold" panose="00000800000000000000"/>
              <a:cs typeface="HK Grotesk Bold" panose="00000800000000000000"/>
              <a:sym typeface="HK Grotesk Bold" panose="00000800000000000000"/>
            </a:endParaRPr>
          </a:p>
        </p:txBody>
      </p:sp>
      <p:pic>
        <p:nvPicPr>
          <p:cNvPr id="15" name="Imagen 14">
            <a:extLst>
              <a:ext uri="{FF2B5EF4-FFF2-40B4-BE49-F238E27FC236}">
                <a16:creationId xmlns:a16="http://schemas.microsoft.com/office/drawing/2014/main" id="{E220E041-FF3C-8DA5-8384-072584F3CC67}"/>
              </a:ext>
            </a:extLst>
          </p:cNvPr>
          <p:cNvPicPr>
            <a:picLocks noChangeAspect="1"/>
          </p:cNvPicPr>
          <p:nvPr/>
        </p:nvPicPr>
        <p:blipFill>
          <a:blip r:embed="rId5"/>
          <a:srcRect l="2373" t="1092" r="3003" b="4975"/>
          <a:stretch/>
        </p:blipFill>
        <p:spPr>
          <a:xfrm>
            <a:off x="7239000" y="952500"/>
            <a:ext cx="10202091" cy="6404232"/>
          </a:xfrm>
          <a:prstGeom prst="rect">
            <a:avLst/>
          </a:prstGeom>
        </p:spPr>
      </p:pic>
      <p:sp>
        <p:nvSpPr>
          <p:cNvPr id="17" name="CuadroTexto 16">
            <a:extLst>
              <a:ext uri="{FF2B5EF4-FFF2-40B4-BE49-F238E27FC236}">
                <a16:creationId xmlns:a16="http://schemas.microsoft.com/office/drawing/2014/main" id="{A6E97893-723C-5501-E797-CE75BD51C8AD}"/>
              </a:ext>
            </a:extLst>
          </p:cNvPr>
          <p:cNvSpPr txBox="1"/>
          <p:nvPr/>
        </p:nvSpPr>
        <p:spPr>
          <a:xfrm>
            <a:off x="1066799" y="2484238"/>
            <a:ext cx="5486401" cy="3913059"/>
          </a:xfrm>
          <a:prstGeom prst="rect">
            <a:avLst/>
          </a:prstGeom>
          <a:noFill/>
          <a:ln>
            <a:solidFill>
              <a:srgbClr val="002060"/>
            </a:solidFill>
          </a:ln>
        </p:spPr>
        <p:style>
          <a:lnRef idx="2">
            <a:schemeClr val="dk1"/>
          </a:lnRef>
          <a:fillRef idx="1">
            <a:schemeClr val="lt1"/>
          </a:fillRef>
          <a:effectRef idx="0">
            <a:schemeClr val="dk1"/>
          </a:effectRef>
          <a:fontRef idx="minor">
            <a:schemeClr val="dk1"/>
          </a:fontRef>
        </p:style>
        <p:txBody>
          <a:bodyPr wrap="square">
            <a:spAutoFit/>
          </a:bodyPr>
          <a:lstStyle/>
          <a:p>
            <a:pPr algn="just">
              <a:lnSpc>
                <a:spcPct val="150000"/>
              </a:lnSpc>
            </a:pPr>
            <a:r>
              <a:rPr lang="es-ES" sz="2400" dirty="0" err="1"/>
              <a:t>Northwind</a:t>
            </a:r>
            <a:r>
              <a:rPr lang="es-ES" sz="2400" dirty="0"/>
              <a:t> es una base de datos simulada que representa las operaciones de una empresa de distribución con datos del 1 de enero de 2022 al 11 de marzo de 2024. Incluye información sobre productos, clientes, empleados, proveedores, órdenes y detalles de ventas.</a:t>
            </a:r>
            <a:endParaRPr lang="en-US" sz="2400" dirty="0"/>
          </a:p>
        </p:txBody>
      </p:sp>
    </p:spTree>
    <p:extLst>
      <p:ext uri="{BB962C8B-B14F-4D97-AF65-F5344CB8AC3E}">
        <p14:creationId xmlns:p14="http://schemas.microsoft.com/office/powerpoint/2010/main" val="1719856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2">
            <a:extLst>
              <a:ext uri="{FF2B5EF4-FFF2-40B4-BE49-F238E27FC236}">
                <a16:creationId xmlns:a16="http://schemas.microsoft.com/office/drawing/2014/main" id="{95261F08-3D88-7B58-F94B-BF9B6D0515DD}"/>
              </a:ext>
            </a:extLst>
          </p:cNvPr>
          <p:cNvSpPr/>
          <p:nvPr/>
        </p:nvSpPr>
        <p:spPr>
          <a:xfrm>
            <a:off x="0" y="0"/>
            <a:ext cx="18288000" cy="10287000"/>
          </a:xfrm>
          <a:prstGeom prst="rect">
            <a:avLst/>
          </a:prstGeom>
          <a:solidFill>
            <a:srgbClr val="F0F2F6"/>
          </a:solidFill>
        </p:spPr>
      </p:sp>
      <p:pic>
        <p:nvPicPr>
          <p:cNvPr id="12" name="Imagen 11">
            <a:extLst>
              <a:ext uri="{FF2B5EF4-FFF2-40B4-BE49-F238E27FC236}">
                <a16:creationId xmlns:a16="http://schemas.microsoft.com/office/drawing/2014/main" id="{5FFE3A98-AF6C-155F-9C1F-2400B4A98F44}"/>
              </a:ext>
            </a:extLst>
          </p:cNvPr>
          <p:cNvPicPr>
            <a:picLocks noChangeAspect="1"/>
          </p:cNvPicPr>
          <p:nvPr/>
        </p:nvPicPr>
        <p:blipFill>
          <a:blip r:embed="rId2"/>
          <a:stretch>
            <a:fillRect/>
          </a:stretch>
        </p:blipFill>
        <p:spPr>
          <a:xfrm>
            <a:off x="0" y="8452909"/>
            <a:ext cx="18288000" cy="1839839"/>
          </a:xfrm>
          <a:prstGeom prst="rect">
            <a:avLst/>
          </a:prstGeom>
        </p:spPr>
      </p:pic>
      <p:sp>
        <p:nvSpPr>
          <p:cNvPr id="4" name="TextBox 7">
            <a:extLst>
              <a:ext uri="{FF2B5EF4-FFF2-40B4-BE49-F238E27FC236}">
                <a16:creationId xmlns:a16="http://schemas.microsoft.com/office/drawing/2014/main" id="{E4AD9968-5E51-62FB-3B0A-61C2B92D85ED}"/>
              </a:ext>
            </a:extLst>
          </p:cNvPr>
          <p:cNvSpPr txBox="1"/>
          <p:nvPr/>
        </p:nvSpPr>
        <p:spPr>
          <a:xfrm>
            <a:off x="2266950" y="225326"/>
            <a:ext cx="13754100" cy="1231106"/>
          </a:xfrm>
          <a:prstGeom prst="rect">
            <a:avLst/>
          </a:prstGeom>
        </p:spPr>
        <p:txBody>
          <a:bodyPr wrap="square" lIns="0" tIns="0" rIns="0" bIns="0" rtlCol="0" anchor="t">
            <a:spAutoFit/>
          </a:bodyPr>
          <a:lstStyle/>
          <a:p>
            <a:pPr algn="ctr">
              <a:lnSpc>
                <a:spcPts val="9600"/>
              </a:lnSpc>
            </a:pPr>
            <a:r>
              <a:rPr lang="es-ES" sz="8000" b="1" dirty="0">
                <a:latin typeface="HK Grotesk Bold" panose="00000800000000000000"/>
              </a:rPr>
              <a:t>Análisis de ventas</a:t>
            </a:r>
            <a:endParaRPr lang="en-US" sz="8000" b="1" dirty="0">
              <a:solidFill>
                <a:srgbClr val="000000"/>
              </a:solidFill>
              <a:latin typeface="HK Grotesk Bold" panose="00000800000000000000"/>
              <a:ea typeface="HK Grotesk Bold" panose="00000800000000000000"/>
              <a:cs typeface="HK Grotesk Bold" panose="00000800000000000000"/>
              <a:sym typeface="HK Grotesk Bold" panose="00000800000000000000"/>
            </a:endParaRPr>
          </a:p>
        </p:txBody>
      </p:sp>
      <p:pic>
        <p:nvPicPr>
          <p:cNvPr id="5" name="Imagen 4">
            <a:extLst>
              <a:ext uri="{FF2B5EF4-FFF2-40B4-BE49-F238E27FC236}">
                <a16:creationId xmlns:a16="http://schemas.microsoft.com/office/drawing/2014/main" id="{E45DC364-EBDA-07B7-673B-14187C12D1BB}"/>
              </a:ext>
            </a:extLst>
          </p:cNvPr>
          <p:cNvPicPr>
            <a:picLocks noChangeAspect="1"/>
          </p:cNvPicPr>
          <p:nvPr/>
        </p:nvPicPr>
        <p:blipFill>
          <a:blip r:embed="rId3"/>
          <a:stretch>
            <a:fillRect/>
          </a:stretch>
        </p:blipFill>
        <p:spPr>
          <a:xfrm>
            <a:off x="838200" y="1681757"/>
            <a:ext cx="7994155" cy="4802897"/>
          </a:xfrm>
          <a:prstGeom prst="rect">
            <a:avLst/>
          </a:prstGeom>
        </p:spPr>
      </p:pic>
      <p:pic>
        <p:nvPicPr>
          <p:cNvPr id="6" name="Imagen 5">
            <a:extLst>
              <a:ext uri="{FF2B5EF4-FFF2-40B4-BE49-F238E27FC236}">
                <a16:creationId xmlns:a16="http://schemas.microsoft.com/office/drawing/2014/main" id="{2A8CB960-7BF0-673C-FEDD-87F487EB8400}"/>
              </a:ext>
            </a:extLst>
          </p:cNvPr>
          <p:cNvPicPr>
            <a:picLocks noChangeAspect="1"/>
          </p:cNvPicPr>
          <p:nvPr/>
        </p:nvPicPr>
        <p:blipFill>
          <a:blip r:embed="rId4"/>
          <a:stretch>
            <a:fillRect/>
          </a:stretch>
        </p:blipFill>
        <p:spPr>
          <a:xfrm>
            <a:off x="9488491" y="1659726"/>
            <a:ext cx="7961309" cy="4802897"/>
          </a:xfrm>
          <a:prstGeom prst="rect">
            <a:avLst/>
          </a:prstGeom>
        </p:spPr>
      </p:pic>
      <p:sp>
        <p:nvSpPr>
          <p:cNvPr id="7" name="CuadroTexto 6">
            <a:extLst>
              <a:ext uri="{FF2B5EF4-FFF2-40B4-BE49-F238E27FC236}">
                <a16:creationId xmlns:a16="http://schemas.microsoft.com/office/drawing/2014/main" id="{17BC5AF0-7403-FEF1-6211-2471E03FC0A3}"/>
              </a:ext>
            </a:extLst>
          </p:cNvPr>
          <p:cNvSpPr txBox="1"/>
          <p:nvPr/>
        </p:nvSpPr>
        <p:spPr>
          <a:xfrm>
            <a:off x="1941180" y="6914400"/>
            <a:ext cx="14405639" cy="1200329"/>
          </a:xfrm>
          <a:prstGeom prst="rect">
            <a:avLst/>
          </a:prstGeom>
          <a:noFill/>
          <a:ln>
            <a:solidFill>
              <a:srgbClr val="002060"/>
            </a:solidFill>
          </a:ln>
        </p:spPr>
        <p:style>
          <a:lnRef idx="2">
            <a:schemeClr val="dk1"/>
          </a:lnRef>
          <a:fillRef idx="1">
            <a:schemeClr val="lt1"/>
          </a:fillRef>
          <a:effectRef idx="0">
            <a:schemeClr val="dk1"/>
          </a:effectRef>
          <a:fontRef idx="minor">
            <a:schemeClr val="dk1"/>
          </a:fontRef>
        </p:style>
        <p:txBody>
          <a:bodyPr wrap="square">
            <a:spAutoFit/>
          </a:bodyPr>
          <a:lstStyle/>
          <a:p>
            <a:pPr algn="just"/>
            <a:r>
              <a:rPr lang="es-ES" sz="2400" dirty="0"/>
              <a:t>El producto con mayor ingreso es </a:t>
            </a:r>
            <a:r>
              <a:rPr lang="es-ES" sz="2400" i="1" dirty="0" err="1"/>
              <a:t>Product_newspaper</a:t>
            </a:r>
            <a:r>
              <a:rPr lang="es-ES" sz="2400" dirty="0"/>
              <a:t>, perteneciente a la categoría </a:t>
            </a:r>
            <a:r>
              <a:rPr lang="es-ES" sz="2400" i="1" dirty="0" err="1"/>
              <a:t>categ_dog</a:t>
            </a:r>
            <a:r>
              <a:rPr lang="es-ES" sz="2400" dirty="0"/>
              <a:t>; sin embargo, esta no se posiciona como la categoría más rentable. Esto se explica porque otras categorías agrupan múltiples productos con altos niveles de ingreso, lo que incrementa su rentabilidad total.</a:t>
            </a:r>
            <a:endParaRPr lang="en-US" sz="2400" dirty="0"/>
          </a:p>
        </p:txBody>
      </p:sp>
    </p:spTree>
    <p:extLst>
      <p:ext uri="{BB962C8B-B14F-4D97-AF65-F5344CB8AC3E}">
        <p14:creationId xmlns:p14="http://schemas.microsoft.com/office/powerpoint/2010/main" val="682462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2">
            <a:extLst>
              <a:ext uri="{FF2B5EF4-FFF2-40B4-BE49-F238E27FC236}">
                <a16:creationId xmlns:a16="http://schemas.microsoft.com/office/drawing/2014/main" id="{95261F08-3D88-7B58-F94B-BF9B6D0515DD}"/>
              </a:ext>
            </a:extLst>
          </p:cNvPr>
          <p:cNvSpPr/>
          <p:nvPr/>
        </p:nvSpPr>
        <p:spPr>
          <a:xfrm>
            <a:off x="0" y="0"/>
            <a:ext cx="18288000" cy="10287000"/>
          </a:xfrm>
          <a:prstGeom prst="rect">
            <a:avLst/>
          </a:prstGeom>
          <a:solidFill>
            <a:srgbClr val="F0F2F6"/>
          </a:solidFill>
        </p:spPr>
      </p:sp>
      <p:pic>
        <p:nvPicPr>
          <p:cNvPr id="12" name="Imagen 11">
            <a:extLst>
              <a:ext uri="{FF2B5EF4-FFF2-40B4-BE49-F238E27FC236}">
                <a16:creationId xmlns:a16="http://schemas.microsoft.com/office/drawing/2014/main" id="{5FFE3A98-AF6C-155F-9C1F-2400B4A98F44}"/>
              </a:ext>
            </a:extLst>
          </p:cNvPr>
          <p:cNvPicPr>
            <a:picLocks noChangeAspect="1"/>
          </p:cNvPicPr>
          <p:nvPr/>
        </p:nvPicPr>
        <p:blipFill>
          <a:blip r:embed="rId2"/>
          <a:stretch>
            <a:fillRect/>
          </a:stretch>
        </p:blipFill>
        <p:spPr>
          <a:xfrm>
            <a:off x="0" y="8452909"/>
            <a:ext cx="18288000" cy="1839839"/>
          </a:xfrm>
          <a:prstGeom prst="rect">
            <a:avLst/>
          </a:prstGeom>
        </p:spPr>
      </p:pic>
      <p:sp>
        <p:nvSpPr>
          <p:cNvPr id="4" name="TextBox 7">
            <a:extLst>
              <a:ext uri="{FF2B5EF4-FFF2-40B4-BE49-F238E27FC236}">
                <a16:creationId xmlns:a16="http://schemas.microsoft.com/office/drawing/2014/main" id="{E4AD9968-5E51-62FB-3B0A-61C2B92D85ED}"/>
              </a:ext>
            </a:extLst>
          </p:cNvPr>
          <p:cNvSpPr txBox="1"/>
          <p:nvPr/>
        </p:nvSpPr>
        <p:spPr>
          <a:xfrm>
            <a:off x="2266950" y="225326"/>
            <a:ext cx="13754100" cy="1231106"/>
          </a:xfrm>
          <a:prstGeom prst="rect">
            <a:avLst/>
          </a:prstGeom>
        </p:spPr>
        <p:txBody>
          <a:bodyPr wrap="square" lIns="0" tIns="0" rIns="0" bIns="0" rtlCol="0" anchor="t">
            <a:spAutoFit/>
          </a:bodyPr>
          <a:lstStyle/>
          <a:p>
            <a:pPr algn="ctr">
              <a:lnSpc>
                <a:spcPts val="9600"/>
              </a:lnSpc>
            </a:pPr>
            <a:r>
              <a:rPr lang="es-ES" sz="8000" b="1" dirty="0">
                <a:latin typeface="HK Grotesk Bold" panose="00000800000000000000"/>
              </a:rPr>
              <a:t>	Presencia por países</a:t>
            </a:r>
            <a:endParaRPr lang="en-US" sz="8000" b="1" dirty="0">
              <a:solidFill>
                <a:srgbClr val="000000"/>
              </a:solidFill>
              <a:latin typeface="HK Grotesk Bold" panose="00000800000000000000"/>
              <a:ea typeface="HK Grotesk Bold" panose="00000800000000000000"/>
              <a:cs typeface="HK Grotesk Bold" panose="00000800000000000000"/>
              <a:sym typeface="HK Grotesk Bold" panose="00000800000000000000"/>
            </a:endParaRPr>
          </a:p>
        </p:txBody>
      </p:sp>
      <p:sp>
        <p:nvSpPr>
          <p:cNvPr id="7" name="CuadroTexto 6">
            <a:extLst>
              <a:ext uri="{FF2B5EF4-FFF2-40B4-BE49-F238E27FC236}">
                <a16:creationId xmlns:a16="http://schemas.microsoft.com/office/drawing/2014/main" id="{17BC5AF0-7403-FEF1-6211-2471E03FC0A3}"/>
              </a:ext>
            </a:extLst>
          </p:cNvPr>
          <p:cNvSpPr txBox="1"/>
          <p:nvPr/>
        </p:nvSpPr>
        <p:spPr>
          <a:xfrm>
            <a:off x="1945015" y="6919943"/>
            <a:ext cx="5907420" cy="1015663"/>
          </a:xfrm>
          <a:prstGeom prst="rect">
            <a:avLst/>
          </a:prstGeom>
          <a:noFill/>
          <a:ln>
            <a:solidFill>
              <a:srgbClr val="002060"/>
            </a:solidFill>
          </a:ln>
        </p:spPr>
        <p:style>
          <a:lnRef idx="2">
            <a:schemeClr val="dk1"/>
          </a:lnRef>
          <a:fillRef idx="1">
            <a:schemeClr val="lt1"/>
          </a:fillRef>
          <a:effectRef idx="0">
            <a:schemeClr val="dk1"/>
          </a:effectRef>
          <a:fontRef idx="minor">
            <a:schemeClr val="dk1"/>
          </a:fontRef>
        </p:style>
        <p:txBody>
          <a:bodyPr wrap="square">
            <a:spAutoFit/>
          </a:bodyPr>
          <a:lstStyle/>
          <a:p>
            <a:pPr algn="just"/>
            <a:r>
              <a:rPr lang="es-ES" sz="2000" dirty="0" err="1"/>
              <a:t>Netherlands</a:t>
            </a:r>
            <a:r>
              <a:rPr lang="es-ES" sz="2000" dirty="0"/>
              <a:t> se posiciona como el país con mayores ingresos durante los últimos 12 años analizado en la data.</a:t>
            </a:r>
            <a:endParaRPr lang="en-US" sz="2000" dirty="0"/>
          </a:p>
        </p:txBody>
      </p:sp>
      <p:pic>
        <p:nvPicPr>
          <p:cNvPr id="3" name="Imagen 2">
            <a:extLst>
              <a:ext uri="{FF2B5EF4-FFF2-40B4-BE49-F238E27FC236}">
                <a16:creationId xmlns:a16="http://schemas.microsoft.com/office/drawing/2014/main" id="{C4732010-A64D-FFB0-E506-54EBB09B4BCD}"/>
              </a:ext>
            </a:extLst>
          </p:cNvPr>
          <p:cNvPicPr>
            <a:picLocks noChangeAspect="1"/>
          </p:cNvPicPr>
          <p:nvPr/>
        </p:nvPicPr>
        <p:blipFill>
          <a:blip r:embed="rId3"/>
          <a:stretch>
            <a:fillRect/>
          </a:stretch>
        </p:blipFill>
        <p:spPr>
          <a:xfrm>
            <a:off x="997941" y="1673992"/>
            <a:ext cx="7801569" cy="4680942"/>
          </a:xfrm>
          <a:prstGeom prst="rect">
            <a:avLst/>
          </a:prstGeom>
        </p:spPr>
      </p:pic>
      <p:pic>
        <p:nvPicPr>
          <p:cNvPr id="9" name="Imagen 8">
            <a:extLst>
              <a:ext uri="{FF2B5EF4-FFF2-40B4-BE49-F238E27FC236}">
                <a16:creationId xmlns:a16="http://schemas.microsoft.com/office/drawing/2014/main" id="{CC9051D7-7D76-8EF4-406F-16776F72E4DC}"/>
              </a:ext>
            </a:extLst>
          </p:cNvPr>
          <p:cNvPicPr>
            <a:picLocks noChangeAspect="1"/>
          </p:cNvPicPr>
          <p:nvPr/>
        </p:nvPicPr>
        <p:blipFill>
          <a:blip r:embed="rId4"/>
          <a:stretch>
            <a:fillRect/>
          </a:stretch>
        </p:blipFill>
        <p:spPr>
          <a:xfrm>
            <a:off x="9121876" y="1696473"/>
            <a:ext cx="7801569" cy="4658462"/>
          </a:xfrm>
          <a:prstGeom prst="rect">
            <a:avLst/>
          </a:prstGeom>
        </p:spPr>
      </p:pic>
      <p:sp>
        <p:nvSpPr>
          <p:cNvPr id="10" name="CuadroTexto 9">
            <a:extLst>
              <a:ext uri="{FF2B5EF4-FFF2-40B4-BE49-F238E27FC236}">
                <a16:creationId xmlns:a16="http://schemas.microsoft.com/office/drawing/2014/main" id="{3CC41EE7-994B-609A-BD21-E5B0D37D989F}"/>
              </a:ext>
            </a:extLst>
          </p:cNvPr>
          <p:cNvSpPr txBox="1"/>
          <p:nvPr/>
        </p:nvSpPr>
        <p:spPr>
          <a:xfrm>
            <a:off x="9675135" y="6758844"/>
            <a:ext cx="6695050" cy="1323439"/>
          </a:xfrm>
          <a:prstGeom prst="rect">
            <a:avLst/>
          </a:prstGeom>
          <a:noFill/>
          <a:ln>
            <a:solidFill>
              <a:srgbClr val="002060"/>
            </a:solidFill>
          </a:ln>
        </p:spPr>
        <p:style>
          <a:lnRef idx="2">
            <a:schemeClr val="dk1"/>
          </a:lnRef>
          <a:fillRef idx="1">
            <a:schemeClr val="lt1"/>
          </a:fillRef>
          <a:effectRef idx="0">
            <a:schemeClr val="dk1"/>
          </a:effectRef>
          <a:fontRef idx="minor">
            <a:schemeClr val="dk1"/>
          </a:fontRef>
        </p:style>
        <p:txBody>
          <a:bodyPr wrap="square">
            <a:spAutoFit/>
          </a:bodyPr>
          <a:lstStyle/>
          <a:p>
            <a:pPr algn="just"/>
            <a:r>
              <a:rPr lang="es-ES" sz="2000" dirty="0"/>
              <a:t>Aunque </a:t>
            </a:r>
            <a:r>
              <a:rPr lang="es-ES" sz="2000" dirty="0" err="1"/>
              <a:t>Netherlands</a:t>
            </a:r>
            <a:r>
              <a:rPr lang="es-ES" sz="2000" dirty="0"/>
              <a:t> lidera en ingresos, la mayor concentración de clientes activos se observa en otros países, lo que refleja diferencias en el valor promedio de las transacciones.</a:t>
            </a:r>
            <a:endParaRPr lang="en-US" sz="2000" dirty="0"/>
          </a:p>
        </p:txBody>
      </p:sp>
    </p:spTree>
    <p:extLst>
      <p:ext uri="{BB962C8B-B14F-4D97-AF65-F5344CB8AC3E}">
        <p14:creationId xmlns:p14="http://schemas.microsoft.com/office/powerpoint/2010/main" val="967178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2">
            <a:extLst>
              <a:ext uri="{FF2B5EF4-FFF2-40B4-BE49-F238E27FC236}">
                <a16:creationId xmlns:a16="http://schemas.microsoft.com/office/drawing/2014/main" id="{95261F08-3D88-7B58-F94B-BF9B6D0515DD}"/>
              </a:ext>
            </a:extLst>
          </p:cNvPr>
          <p:cNvSpPr/>
          <p:nvPr/>
        </p:nvSpPr>
        <p:spPr>
          <a:xfrm>
            <a:off x="0" y="0"/>
            <a:ext cx="18288000" cy="10287000"/>
          </a:xfrm>
          <a:prstGeom prst="rect">
            <a:avLst/>
          </a:prstGeom>
          <a:solidFill>
            <a:srgbClr val="F0F2F6"/>
          </a:solidFill>
        </p:spPr>
      </p:sp>
      <p:pic>
        <p:nvPicPr>
          <p:cNvPr id="12" name="Imagen 11">
            <a:extLst>
              <a:ext uri="{FF2B5EF4-FFF2-40B4-BE49-F238E27FC236}">
                <a16:creationId xmlns:a16="http://schemas.microsoft.com/office/drawing/2014/main" id="{5FFE3A98-AF6C-155F-9C1F-2400B4A98F44}"/>
              </a:ext>
            </a:extLst>
          </p:cNvPr>
          <p:cNvPicPr>
            <a:picLocks noChangeAspect="1"/>
          </p:cNvPicPr>
          <p:nvPr/>
        </p:nvPicPr>
        <p:blipFill>
          <a:blip r:embed="rId2"/>
          <a:stretch>
            <a:fillRect/>
          </a:stretch>
        </p:blipFill>
        <p:spPr>
          <a:xfrm>
            <a:off x="0" y="8452909"/>
            <a:ext cx="18288000" cy="1839839"/>
          </a:xfrm>
          <a:prstGeom prst="rect">
            <a:avLst/>
          </a:prstGeom>
        </p:spPr>
      </p:pic>
      <p:sp>
        <p:nvSpPr>
          <p:cNvPr id="4" name="TextBox 7">
            <a:extLst>
              <a:ext uri="{FF2B5EF4-FFF2-40B4-BE49-F238E27FC236}">
                <a16:creationId xmlns:a16="http://schemas.microsoft.com/office/drawing/2014/main" id="{E4AD9968-5E51-62FB-3B0A-61C2B92D85ED}"/>
              </a:ext>
            </a:extLst>
          </p:cNvPr>
          <p:cNvSpPr txBox="1"/>
          <p:nvPr/>
        </p:nvSpPr>
        <p:spPr>
          <a:xfrm>
            <a:off x="692869" y="419100"/>
            <a:ext cx="7410450" cy="2462213"/>
          </a:xfrm>
          <a:prstGeom prst="rect">
            <a:avLst/>
          </a:prstGeom>
        </p:spPr>
        <p:txBody>
          <a:bodyPr wrap="square" lIns="0" tIns="0" rIns="0" bIns="0" rtlCol="0" anchor="t">
            <a:spAutoFit/>
          </a:bodyPr>
          <a:lstStyle/>
          <a:p>
            <a:pPr algn="ctr">
              <a:lnSpc>
                <a:spcPts val="9600"/>
              </a:lnSpc>
            </a:pPr>
            <a:r>
              <a:rPr lang="es-ES" sz="8000" b="1" dirty="0">
                <a:latin typeface="HK Grotesk Bold" panose="00000800000000000000"/>
              </a:rPr>
              <a:t>Comportamiento de clientes</a:t>
            </a:r>
            <a:endParaRPr lang="en-US" sz="8000" b="1" dirty="0">
              <a:solidFill>
                <a:srgbClr val="000000"/>
              </a:solidFill>
              <a:latin typeface="HK Grotesk Bold" panose="00000800000000000000"/>
              <a:ea typeface="HK Grotesk Bold" panose="00000800000000000000"/>
              <a:cs typeface="HK Grotesk Bold" panose="00000800000000000000"/>
              <a:sym typeface="HK Grotesk Bold" panose="00000800000000000000"/>
            </a:endParaRPr>
          </a:p>
        </p:txBody>
      </p:sp>
      <p:pic>
        <p:nvPicPr>
          <p:cNvPr id="3" name="Imagen 2">
            <a:extLst>
              <a:ext uri="{FF2B5EF4-FFF2-40B4-BE49-F238E27FC236}">
                <a16:creationId xmlns:a16="http://schemas.microsoft.com/office/drawing/2014/main" id="{133D3C5B-1B29-6A83-D307-6C927E82CDCF}"/>
              </a:ext>
            </a:extLst>
          </p:cNvPr>
          <p:cNvPicPr>
            <a:picLocks noChangeAspect="1"/>
          </p:cNvPicPr>
          <p:nvPr/>
        </p:nvPicPr>
        <p:blipFill>
          <a:blip r:embed="rId3"/>
          <a:stretch>
            <a:fillRect/>
          </a:stretch>
        </p:blipFill>
        <p:spPr>
          <a:xfrm>
            <a:off x="10054541" y="671513"/>
            <a:ext cx="7141766" cy="5257800"/>
          </a:xfrm>
          <a:prstGeom prst="rect">
            <a:avLst/>
          </a:prstGeom>
        </p:spPr>
      </p:pic>
      <p:pic>
        <p:nvPicPr>
          <p:cNvPr id="9" name="Imagen 8">
            <a:extLst>
              <a:ext uri="{FF2B5EF4-FFF2-40B4-BE49-F238E27FC236}">
                <a16:creationId xmlns:a16="http://schemas.microsoft.com/office/drawing/2014/main" id="{EB856F5C-D4C0-1806-0603-36C787CE4AA9}"/>
              </a:ext>
            </a:extLst>
          </p:cNvPr>
          <p:cNvPicPr>
            <a:picLocks noChangeAspect="1"/>
          </p:cNvPicPr>
          <p:nvPr/>
        </p:nvPicPr>
        <p:blipFill>
          <a:blip r:embed="rId4"/>
          <a:stretch>
            <a:fillRect/>
          </a:stretch>
        </p:blipFill>
        <p:spPr>
          <a:xfrm>
            <a:off x="1091693" y="3300412"/>
            <a:ext cx="7124030" cy="4586287"/>
          </a:xfrm>
          <a:prstGeom prst="rect">
            <a:avLst/>
          </a:prstGeom>
        </p:spPr>
      </p:pic>
    </p:spTree>
    <p:extLst>
      <p:ext uri="{BB962C8B-B14F-4D97-AF65-F5344CB8AC3E}">
        <p14:creationId xmlns:p14="http://schemas.microsoft.com/office/powerpoint/2010/main" val="1563406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2">
            <a:extLst>
              <a:ext uri="{FF2B5EF4-FFF2-40B4-BE49-F238E27FC236}">
                <a16:creationId xmlns:a16="http://schemas.microsoft.com/office/drawing/2014/main" id="{95261F08-3D88-7B58-F94B-BF9B6D0515DD}"/>
              </a:ext>
            </a:extLst>
          </p:cNvPr>
          <p:cNvSpPr/>
          <p:nvPr/>
        </p:nvSpPr>
        <p:spPr>
          <a:xfrm>
            <a:off x="0" y="0"/>
            <a:ext cx="18288000" cy="10287000"/>
          </a:xfrm>
          <a:prstGeom prst="rect">
            <a:avLst/>
          </a:prstGeom>
          <a:solidFill>
            <a:srgbClr val="F0F2F6"/>
          </a:solidFill>
        </p:spPr>
      </p:sp>
      <p:pic>
        <p:nvPicPr>
          <p:cNvPr id="12" name="Imagen 11">
            <a:extLst>
              <a:ext uri="{FF2B5EF4-FFF2-40B4-BE49-F238E27FC236}">
                <a16:creationId xmlns:a16="http://schemas.microsoft.com/office/drawing/2014/main" id="{5FFE3A98-AF6C-155F-9C1F-2400B4A98F44}"/>
              </a:ext>
            </a:extLst>
          </p:cNvPr>
          <p:cNvPicPr>
            <a:picLocks noChangeAspect="1"/>
          </p:cNvPicPr>
          <p:nvPr/>
        </p:nvPicPr>
        <p:blipFill>
          <a:blip r:embed="rId2"/>
          <a:stretch>
            <a:fillRect/>
          </a:stretch>
        </p:blipFill>
        <p:spPr>
          <a:xfrm>
            <a:off x="0" y="8452909"/>
            <a:ext cx="18288000" cy="1839839"/>
          </a:xfrm>
          <a:prstGeom prst="rect">
            <a:avLst/>
          </a:prstGeom>
        </p:spPr>
      </p:pic>
      <p:sp>
        <p:nvSpPr>
          <p:cNvPr id="4" name="TextBox 7">
            <a:extLst>
              <a:ext uri="{FF2B5EF4-FFF2-40B4-BE49-F238E27FC236}">
                <a16:creationId xmlns:a16="http://schemas.microsoft.com/office/drawing/2014/main" id="{E4AD9968-5E51-62FB-3B0A-61C2B92D85ED}"/>
              </a:ext>
            </a:extLst>
          </p:cNvPr>
          <p:cNvSpPr txBox="1"/>
          <p:nvPr/>
        </p:nvSpPr>
        <p:spPr>
          <a:xfrm>
            <a:off x="609600" y="342900"/>
            <a:ext cx="8324850" cy="2462213"/>
          </a:xfrm>
          <a:prstGeom prst="rect">
            <a:avLst/>
          </a:prstGeom>
        </p:spPr>
        <p:txBody>
          <a:bodyPr wrap="square" lIns="0" tIns="0" rIns="0" bIns="0" rtlCol="0" anchor="t">
            <a:spAutoFit/>
          </a:bodyPr>
          <a:lstStyle/>
          <a:p>
            <a:pPr algn="ctr">
              <a:lnSpc>
                <a:spcPts val="9600"/>
              </a:lnSpc>
            </a:pPr>
            <a:r>
              <a:rPr lang="es-ES" sz="8000" b="1" dirty="0">
                <a:latin typeface="HK Grotesk Bold" panose="00000800000000000000"/>
              </a:rPr>
              <a:t>Evolución</a:t>
            </a:r>
            <a:r>
              <a:rPr lang="es-ES" sz="8000" dirty="0"/>
              <a:t> </a:t>
            </a:r>
            <a:r>
              <a:rPr lang="es-ES" sz="8000" b="1" dirty="0">
                <a:latin typeface="HK Grotesk Bold" panose="00000800000000000000"/>
              </a:rPr>
              <a:t>temporal de las ventas</a:t>
            </a:r>
            <a:endParaRPr lang="en-US" sz="8000" b="1" dirty="0">
              <a:solidFill>
                <a:srgbClr val="000000"/>
              </a:solidFill>
              <a:latin typeface="HK Grotesk Bold" panose="00000800000000000000"/>
              <a:ea typeface="HK Grotesk Bold" panose="00000800000000000000"/>
              <a:cs typeface="HK Grotesk Bold" panose="00000800000000000000"/>
              <a:sym typeface="HK Grotesk Bold" panose="00000800000000000000"/>
            </a:endParaRPr>
          </a:p>
        </p:txBody>
      </p:sp>
      <p:pic>
        <p:nvPicPr>
          <p:cNvPr id="7" name="Imagen 6">
            <a:extLst>
              <a:ext uri="{FF2B5EF4-FFF2-40B4-BE49-F238E27FC236}">
                <a16:creationId xmlns:a16="http://schemas.microsoft.com/office/drawing/2014/main" id="{D9E30340-E860-DC46-3F95-46F9ED49A579}"/>
              </a:ext>
            </a:extLst>
          </p:cNvPr>
          <p:cNvPicPr>
            <a:picLocks noChangeAspect="1"/>
          </p:cNvPicPr>
          <p:nvPr/>
        </p:nvPicPr>
        <p:blipFill>
          <a:blip r:embed="rId3"/>
          <a:stretch>
            <a:fillRect/>
          </a:stretch>
        </p:blipFill>
        <p:spPr>
          <a:xfrm>
            <a:off x="1052689" y="3180591"/>
            <a:ext cx="7438671" cy="4739522"/>
          </a:xfrm>
          <a:prstGeom prst="rect">
            <a:avLst/>
          </a:prstGeom>
        </p:spPr>
      </p:pic>
    </p:spTree>
    <p:extLst>
      <p:ext uri="{BB962C8B-B14F-4D97-AF65-F5344CB8AC3E}">
        <p14:creationId xmlns:p14="http://schemas.microsoft.com/office/powerpoint/2010/main" val="155884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2">
            <a:extLst>
              <a:ext uri="{FF2B5EF4-FFF2-40B4-BE49-F238E27FC236}">
                <a16:creationId xmlns:a16="http://schemas.microsoft.com/office/drawing/2014/main" id="{95261F08-3D88-7B58-F94B-BF9B6D0515DD}"/>
              </a:ext>
            </a:extLst>
          </p:cNvPr>
          <p:cNvSpPr/>
          <p:nvPr/>
        </p:nvSpPr>
        <p:spPr>
          <a:xfrm>
            <a:off x="0" y="0"/>
            <a:ext cx="18288000" cy="10287000"/>
          </a:xfrm>
          <a:prstGeom prst="rect">
            <a:avLst/>
          </a:prstGeom>
          <a:solidFill>
            <a:srgbClr val="F0F2F6"/>
          </a:solidFill>
        </p:spPr>
      </p:sp>
      <p:pic>
        <p:nvPicPr>
          <p:cNvPr id="12" name="Imagen 11">
            <a:extLst>
              <a:ext uri="{FF2B5EF4-FFF2-40B4-BE49-F238E27FC236}">
                <a16:creationId xmlns:a16="http://schemas.microsoft.com/office/drawing/2014/main" id="{5FFE3A98-AF6C-155F-9C1F-2400B4A98F44}"/>
              </a:ext>
            </a:extLst>
          </p:cNvPr>
          <p:cNvPicPr>
            <a:picLocks noChangeAspect="1"/>
          </p:cNvPicPr>
          <p:nvPr/>
        </p:nvPicPr>
        <p:blipFill>
          <a:blip r:embed="rId2"/>
          <a:stretch>
            <a:fillRect/>
          </a:stretch>
        </p:blipFill>
        <p:spPr>
          <a:xfrm>
            <a:off x="0" y="8452909"/>
            <a:ext cx="18288000" cy="1839839"/>
          </a:xfrm>
          <a:prstGeom prst="rect">
            <a:avLst/>
          </a:prstGeom>
        </p:spPr>
      </p:pic>
      <p:sp>
        <p:nvSpPr>
          <p:cNvPr id="4" name="TextBox 7">
            <a:extLst>
              <a:ext uri="{FF2B5EF4-FFF2-40B4-BE49-F238E27FC236}">
                <a16:creationId xmlns:a16="http://schemas.microsoft.com/office/drawing/2014/main" id="{E4AD9968-5E51-62FB-3B0A-61C2B92D85ED}"/>
              </a:ext>
            </a:extLst>
          </p:cNvPr>
          <p:cNvSpPr txBox="1"/>
          <p:nvPr/>
        </p:nvSpPr>
        <p:spPr>
          <a:xfrm>
            <a:off x="2266950" y="225326"/>
            <a:ext cx="13754100" cy="1231106"/>
          </a:xfrm>
          <a:prstGeom prst="rect">
            <a:avLst/>
          </a:prstGeom>
        </p:spPr>
        <p:txBody>
          <a:bodyPr wrap="square" lIns="0" tIns="0" rIns="0" bIns="0" rtlCol="0" anchor="t">
            <a:spAutoFit/>
          </a:bodyPr>
          <a:lstStyle/>
          <a:p>
            <a:pPr algn="ctr">
              <a:lnSpc>
                <a:spcPts val="9600"/>
              </a:lnSpc>
            </a:pPr>
            <a:r>
              <a:rPr lang="es-ES" sz="8000" b="1" dirty="0">
                <a:latin typeface="HK Grotesk Bold" panose="00000800000000000000"/>
              </a:rPr>
              <a:t>Conclusiones</a:t>
            </a:r>
            <a:endParaRPr lang="en-US" sz="8000" b="1" dirty="0">
              <a:solidFill>
                <a:srgbClr val="000000"/>
              </a:solidFill>
              <a:latin typeface="HK Grotesk Bold" panose="00000800000000000000"/>
              <a:ea typeface="HK Grotesk Bold" panose="00000800000000000000"/>
              <a:cs typeface="HK Grotesk Bold" panose="00000800000000000000"/>
              <a:sym typeface="HK Grotesk Bold" panose="00000800000000000000"/>
            </a:endParaRPr>
          </a:p>
        </p:txBody>
      </p:sp>
    </p:spTree>
    <p:extLst>
      <p:ext uri="{BB962C8B-B14F-4D97-AF65-F5344CB8AC3E}">
        <p14:creationId xmlns:p14="http://schemas.microsoft.com/office/powerpoint/2010/main" val="933070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425</TotalTime>
  <Words>186</Words>
  <Application>Microsoft Office PowerPoint</Application>
  <PresentationFormat>Personalizado</PresentationFormat>
  <Paragraphs>16</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Clear Sans Bold</vt:lpstr>
      <vt:lpstr>Arial</vt:lpstr>
      <vt:lpstr>Calibri</vt:lpstr>
      <vt:lpstr>HK Grotesk 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Morado Crema Ilustrado Tecnología Ventas Presentación</dc:title>
  <dc:creator>Bryan Perez</dc:creator>
  <cp:lastModifiedBy>Bryan Perez</cp:lastModifiedBy>
  <cp:revision>16</cp:revision>
  <dcterms:created xsi:type="dcterms:W3CDTF">2006-08-16T00:00:00Z</dcterms:created>
  <dcterms:modified xsi:type="dcterms:W3CDTF">2026-01-31T01:35:57Z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1033-11.8.2.8426</vt:lpwstr>
  </property>
</Properties>
</file>